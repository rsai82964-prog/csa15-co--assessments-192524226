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Open by naming the capstone problem and the cloud product objective. Keep the title slide uncluttered and clearly identify the individual presenter.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9" name="Shape 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not start with technology. First make the need clear, then connect it to cloud-enabled scale, reach, or reliability.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Students should explain the concept map as a reasoning artifact, not as decoration.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Walk from user request to API, compute, data, storage, analytics, monitoring, and security boundary.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6" name="Shape 18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Ask the student to defend provider responsibility and student responsibility for the selected service models.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5" name="Shape 22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Big data analytics is optional, but a thoughtful data path is expected.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4" name="Shape 25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If AI is not required, students can present a Python automation or analytics module instead.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3" name="Shape 28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slide is where students show engineering judgment instead of simply listing services.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2" name="Shape 31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Evidence should be specific and inspectable, not a generic list of tools.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34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3" name="Shape 34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storyboard helps the faculty see whether the cloud architecture is connected to actual use.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8" name="Shape 37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Students can use this as the self-check slide before presenting the conclusion.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40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7" name="Shape 40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ending should synthesize learning, not just say thank you.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2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4" name="CO1 AT3 | 01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01</a:t>
            </a:r>
          </a:p>
        </p:txBody>
      </p:sp>
      <p:sp>
        <p:nvSpPr>
          <p:cNvPr id="25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6" name="CSA15 Cloud Computing and Big Data Analytics"/>
          <p:cNvSpPr txBox="1"/>
          <p:nvPr/>
        </p:nvSpPr>
        <p:spPr>
          <a:xfrm>
            <a:off x="769619" y="914400"/>
            <a:ext cx="6671312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600" b="1">
                <a:solidFill>
                  <a:srgbClr val="1F4E79"/>
                </a:solidFill>
              </a:defRPr>
            </a:lvl1pPr>
          </a:lstStyle>
          <a:p>
            <a:r>
              <a:t>CSA15 Cloud Computing and Big Data Analytics</a:t>
            </a:r>
          </a:p>
        </p:txBody>
      </p:sp>
      <p:sp>
        <p:nvSpPr>
          <p:cNvPr id="27" name="Capstone Cloud Technical Presentation"/>
          <p:cNvSpPr txBox="1"/>
          <p:nvPr/>
        </p:nvSpPr>
        <p:spPr>
          <a:xfrm>
            <a:off x="769619" y="2152650"/>
            <a:ext cx="6671312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200" b="1">
                <a:solidFill>
                  <a:srgbClr val="2F6690"/>
                </a:solidFill>
              </a:defRPr>
            </a:lvl1pPr>
          </a:lstStyle>
          <a:p>
            <a:r>
              <a:t>Capstone Cloud Technical Presentation</a:t>
            </a:r>
          </a:p>
        </p:txBody>
      </p:sp>
      <p:sp>
        <p:nvSpPr>
          <p:cNvPr id="28" name="Individual Student Presentation Deck"/>
          <p:cNvSpPr txBox="1"/>
          <p:nvPr/>
        </p:nvSpPr>
        <p:spPr>
          <a:xfrm>
            <a:off x="769619" y="2762250"/>
            <a:ext cx="5814062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334155"/>
                </a:solidFill>
              </a:defRPr>
            </a:lvl1pPr>
          </a:lstStyle>
          <a:p>
            <a:r>
              <a:t>Individual Student Presentation Deck</a:t>
            </a:r>
          </a:p>
        </p:txBody>
      </p:sp>
      <p:sp>
        <p:nvSpPr>
          <p:cNvPr id="29" name="Presenter Details-panel"/>
          <p:cNvSpPr/>
          <p:nvPr/>
        </p:nvSpPr>
        <p:spPr>
          <a:xfrm>
            <a:off x="7524750" y="1143000"/>
            <a:ext cx="37147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Presenter Details-bar"/>
          <p:cNvSpPr/>
          <p:nvPr/>
        </p:nvSpPr>
        <p:spPr>
          <a:xfrm>
            <a:off x="7524750" y="1143000"/>
            <a:ext cx="37147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Presenter Details"/>
          <p:cNvSpPr txBox="1"/>
          <p:nvPr/>
        </p:nvSpPr>
        <p:spPr>
          <a:xfrm>
            <a:off x="7741919" y="1333500"/>
            <a:ext cx="32804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Presenter Details</a:t>
            </a:r>
          </a:p>
        </p:txBody>
      </p:sp>
      <p:sp>
        <p:nvSpPr>
          <p:cNvPr id="32" name="Student Name:…"/>
          <p:cNvSpPr txBox="1"/>
          <p:nvPr/>
        </p:nvSpPr>
        <p:spPr>
          <a:xfrm>
            <a:off x="7658100" y="1583650"/>
            <a:ext cx="3592831" cy="2693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Student Name:</a:t>
            </a:r>
            <a:r>
              <a:rPr lang="en-US" dirty="0"/>
              <a:t> P Rahul Sai</a:t>
            </a:r>
            <a:endParaRPr dirty="0"/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Register Number:</a:t>
            </a:r>
            <a:r>
              <a:rPr lang="en-US" dirty="0"/>
              <a:t> 192524226</a:t>
            </a:r>
            <a:endParaRPr dirty="0"/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Class / Section / Slot:</a:t>
            </a:r>
            <a:r>
              <a:rPr lang="en-US" dirty="0"/>
              <a:t> B</a:t>
            </a:r>
            <a:endParaRPr dirty="0"/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Capstone </a:t>
            </a:r>
            <a:r>
              <a:rPr dirty="0" err="1"/>
              <a:t>Title:</a:t>
            </a:r>
            <a:r>
              <a:rPr lang="en-US" sz="1300" dirty="0" err="1"/>
              <a:t>BloodBridge</a:t>
            </a:r>
            <a:r>
              <a:rPr lang="en-US" sz="1300" dirty="0"/>
              <a:t>: Emergency Blood Donor Matching Application</a:t>
            </a:r>
            <a:endParaRPr dirty="0"/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Selected SDG Goal(s):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Cloud Platform / Tools:</a:t>
            </a:r>
            <a:r>
              <a:rPr lang="en-IN" sz="1300" dirty="0"/>
              <a:t>Google Cloud Platform (GCP)</a:t>
            </a:r>
            <a:br>
              <a:rPr lang="en-IN" sz="1300" dirty="0"/>
            </a:br>
            <a:r>
              <a:rPr lang="en-IN" sz="1300" dirty="0"/>
              <a:t>• Firebase Authentication</a:t>
            </a:r>
            <a:br>
              <a:rPr lang="en-IN" sz="1300" dirty="0"/>
            </a:br>
            <a:r>
              <a:rPr lang="en-IN" sz="1300" dirty="0"/>
              <a:t>• Firebase </a:t>
            </a:r>
            <a:r>
              <a:rPr lang="en-IN" sz="1300" dirty="0" err="1"/>
              <a:t>Firestore</a:t>
            </a:r>
            <a:r>
              <a:rPr lang="en-IN" sz="1300" dirty="0"/>
              <a:t> Database</a:t>
            </a:r>
            <a:br>
              <a:rPr lang="en-IN" sz="1300" dirty="0"/>
            </a:br>
            <a:r>
              <a:rPr lang="en-IN" sz="1300" dirty="0"/>
              <a:t>• Firebase Cloud Storage</a:t>
            </a:r>
            <a:br>
              <a:rPr lang="en-IN" sz="1300" dirty="0"/>
            </a:br>
            <a:r>
              <a:rPr lang="en-IN" sz="1300" dirty="0"/>
              <a:t>• REST API</a:t>
            </a:r>
            <a:br>
              <a:rPr lang="en-IN" sz="1300" dirty="0"/>
            </a:br>
            <a:r>
              <a:rPr lang="en-IN" sz="1300" dirty="0"/>
              <a:t>• Draw.io (Concept Map)</a:t>
            </a:r>
            <a:br>
              <a:rPr lang="en-IN" sz="1300" dirty="0"/>
            </a:br>
            <a:r>
              <a:rPr lang="en-IN" sz="1300" dirty="0"/>
              <a:t>• GitHub</a:t>
            </a:r>
            <a:endParaRPr dirty="0"/>
          </a:p>
        </p:txBody>
      </p:sp>
      <p:sp>
        <p:nvSpPr>
          <p:cNvPr id="33" name="Presentation Focus-panel"/>
          <p:cNvSpPr/>
          <p:nvPr/>
        </p:nvSpPr>
        <p:spPr>
          <a:xfrm>
            <a:off x="723900" y="3714750"/>
            <a:ext cx="6191250" cy="1181100"/>
          </a:xfrm>
          <a:prstGeom prst="roundRect">
            <a:avLst>
              <a:gd name="adj" fmla="val 6452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4" name="Presentation Focus-bar"/>
          <p:cNvSpPr/>
          <p:nvPr/>
        </p:nvSpPr>
        <p:spPr>
          <a:xfrm>
            <a:off x="723900" y="3714750"/>
            <a:ext cx="6191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" name="Presentation Focus"/>
          <p:cNvSpPr txBox="1"/>
          <p:nvPr/>
        </p:nvSpPr>
        <p:spPr>
          <a:xfrm>
            <a:off x="941069" y="3905250"/>
            <a:ext cx="5756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Presentation Focus</a:t>
            </a:r>
          </a:p>
        </p:txBody>
      </p:sp>
      <p:sp>
        <p:nvSpPr>
          <p:cNvPr id="36" name="Present your capstone as a cloud-backed product. Explain the problem, architecture, service choices, evidence, and CO1 learning clearly."/>
          <p:cNvSpPr txBox="1"/>
          <p:nvPr/>
        </p:nvSpPr>
        <p:spPr>
          <a:xfrm>
            <a:off x="941069" y="4305300"/>
            <a:ext cx="5756912" cy="509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172033"/>
                </a:solidFill>
              </a:defRPr>
            </a:lvl1pPr>
          </a:lstStyle>
          <a:p>
            <a:r>
              <a:t>Present your capstone as a cloud-backed product. Explain the problem, architecture, service choices, evidence, and CO1 learning clearly.</a:t>
            </a:r>
          </a:p>
        </p:txBody>
      </p:sp>
      <p:sp>
        <p:nvSpPr>
          <p:cNvPr id="37" name="delete-guidance-tab"/>
          <p:cNvSpPr/>
          <p:nvPr/>
        </p:nvSpPr>
        <p:spPr>
          <a:xfrm>
            <a:off x="876300" y="5829300"/>
            <a:ext cx="10439400" cy="361950"/>
          </a:xfrm>
          <a:prstGeom prst="roundRect">
            <a:avLst>
              <a:gd name="adj" fmla="val 26316"/>
            </a:avLst>
          </a:prstGeom>
          <a:solidFill>
            <a:srgbClr val="FFF7ED"/>
          </a:solidFill>
          <a:ln>
            <a:solidFill>
              <a:srgbClr val="E9A15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8" name="Guidance - delete before presentation: Fill presenter details, then delete this orange guidance tab from every slide before final submission."/>
          <p:cNvSpPr txBox="1"/>
          <p:nvPr/>
        </p:nvSpPr>
        <p:spPr>
          <a:xfrm>
            <a:off x="1150619" y="5934075"/>
            <a:ext cx="98907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r>
              <a:rPr dirty="0"/>
              <a:t>Guidance - delete before presentation: Fill presenter details, then delete this orange guidance tab from every slide before final submission.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44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46" name="CO1 AT3 | 02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02</a:t>
            </a:r>
          </a:p>
        </p:txBody>
      </p:sp>
      <p:sp>
        <p:nvSpPr>
          <p:cNvPr id="47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Problem Context and Stakeholder Mapping</a:t>
            </a:r>
          </a:p>
        </p:txBody>
      </p:sp>
      <p:sp>
        <p:nvSpPr>
          <p:cNvPr id="48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capstone begins with a real problem to solve</a:t>
            </a:r>
          </a:p>
        </p:txBody>
      </p:sp>
      <p:sp>
        <p:nvSpPr>
          <p:cNvPr id="49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50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1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" name="Problem Statement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Problem Statement</a:t>
            </a:r>
          </a:p>
        </p:txBody>
      </p:sp>
      <p:sp>
        <p:nvSpPr>
          <p:cNvPr id="53" name="What real-world problem does the product solve?"/>
          <p:cNvSpPr txBox="1"/>
          <p:nvPr/>
        </p:nvSpPr>
        <p:spPr>
          <a:xfrm>
            <a:off x="988019" y="2076231"/>
            <a:ext cx="429141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Finding blood donors during emergencies is difficult and time-consuming.</a:t>
            </a:r>
            <a:br>
              <a:rPr lang="en-US" dirty="0"/>
            </a:br>
            <a:r>
              <a:rPr lang="en-US" dirty="0" err="1"/>
              <a:t>BloodBridge</a:t>
            </a:r>
            <a:r>
              <a:rPr lang="en-US" dirty="0"/>
              <a:t> provides quick donor matching through cloud technology.</a:t>
            </a:r>
            <a:endParaRPr dirty="0"/>
          </a:p>
        </p:txBody>
      </p:sp>
      <p:sp>
        <p:nvSpPr>
          <p:cNvPr id="54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5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" name="Target Users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Target Users</a:t>
            </a:r>
          </a:p>
        </p:txBody>
      </p:sp>
      <p:sp>
        <p:nvSpPr>
          <p:cNvPr id="57" name="Who will use the product and what changes for them?"/>
          <p:cNvSpPr txBox="1"/>
          <p:nvPr/>
        </p:nvSpPr>
        <p:spPr>
          <a:xfrm>
            <a:off x="6408419" y="2190750"/>
            <a:ext cx="429141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Blood Donors, Patients, Hospitals, Blood Banks, and Administrators.</a:t>
            </a:r>
            <a:br>
              <a:rPr lang="en-US" dirty="0"/>
            </a:br>
            <a:r>
              <a:rPr lang="en-US" dirty="0"/>
              <a:t>They can register, request blood, and manage donor information</a:t>
            </a:r>
            <a:endParaRPr dirty="0"/>
          </a:p>
        </p:txBody>
      </p:sp>
      <p:sp>
        <p:nvSpPr>
          <p:cNvPr id="58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9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" name="SDG Fit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SDG Fit</a:t>
            </a:r>
          </a:p>
        </p:txBody>
      </p:sp>
      <p:sp>
        <p:nvSpPr>
          <p:cNvPr id="61" name="Which SDG goal is connected to the capstone outcome?"/>
          <p:cNvSpPr txBox="1"/>
          <p:nvPr/>
        </p:nvSpPr>
        <p:spPr>
          <a:xfrm>
            <a:off x="988019" y="3787428"/>
            <a:ext cx="4099562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b="1" dirty="0"/>
              <a:t>SDG 3 – Good Health and Well-being</a:t>
            </a:r>
            <a:br>
              <a:rPr lang="en-US" dirty="0"/>
            </a:br>
            <a:r>
              <a:rPr lang="en-US" dirty="0"/>
              <a:t>The project supports timely blood donation and improves emergency healthcare services.</a:t>
            </a:r>
          </a:p>
        </p:txBody>
      </p:sp>
      <p:sp>
        <p:nvSpPr>
          <p:cNvPr id="62" name="section-3"/>
          <p:cNvSpPr/>
          <p:nvPr/>
        </p:nvSpPr>
        <p:spPr>
          <a:xfrm>
            <a:off x="6191250" y="3255743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63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4" name="Product Boundary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Product Boundary</a:t>
            </a:r>
          </a:p>
        </p:txBody>
      </p:sp>
      <p:sp>
        <p:nvSpPr>
          <p:cNvPr id="65" name="What is included in the first usable version?"/>
          <p:cNvSpPr txBox="1"/>
          <p:nvPr/>
        </p:nvSpPr>
        <p:spPr>
          <a:xfrm>
            <a:off x="6338609" y="3746837"/>
            <a:ext cx="4431030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Includes user registration, donor search, blood request, notifications, and cloud database.</a:t>
            </a:r>
            <a:br>
              <a:rPr lang="en-US" dirty="0"/>
            </a:br>
            <a:r>
              <a:rPr lang="en-US" dirty="0"/>
              <a:t>Advanced AI prediction and inventory management are planned for future versions.</a:t>
            </a:r>
            <a:endParaRPr dirty="0"/>
          </a:p>
        </p:txBody>
      </p:sp>
      <p:sp>
        <p:nvSpPr>
          <p:cNvPr id="66" name="delete-guidance-tab"/>
          <p:cNvSpPr/>
          <p:nvPr/>
        </p:nvSpPr>
        <p:spPr>
          <a:xfrm>
            <a:off x="876300" y="5829300"/>
            <a:ext cx="10439400" cy="361950"/>
          </a:xfrm>
          <a:prstGeom prst="roundRect">
            <a:avLst>
              <a:gd name="adj" fmla="val 26316"/>
            </a:avLst>
          </a:prstGeom>
          <a:solidFill>
            <a:srgbClr val="FFF7ED"/>
          </a:solidFill>
          <a:ln>
            <a:solidFill>
              <a:srgbClr val="E9A15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7" name="Guidance - delete before presentation: Keep the slide short. Present the problem orally with one example, not a long paragraph."/>
          <p:cNvSpPr txBox="1"/>
          <p:nvPr/>
        </p:nvSpPr>
        <p:spPr>
          <a:xfrm>
            <a:off x="1150619" y="5934075"/>
            <a:ext cx="98907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r>
              <a:t>Guidance - delete before presentation: Keep the slide short. Present the problem orally with one example, not a long paragraph.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2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73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75" name="CO1 AT3 | 03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03</a:t>
            </a:r>
          </a:p>
        </p:txBody>
      </p:sp>
      <p:sp>
        <p:nvSpPr>
          <p:cNvPr id="76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Cloud Adoption Rationale and Concept Map</a:t>
            </a:r>
          </a:p>
        </p:txBody>
      </p:sp>
      <p:sp>
        <p:nvSpPr>
          <p:cNvPr id="77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The problem needs cloud support to become a usable product</a:t>
            </a:r>
          </a:p>
        </p:txBody>
      </p:sp>
      <p:sp>
        <p:nvSpPr>
          <p:cNvPr id="78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79" name="Cloud Definition-panel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80" name="Cloud Definition-bar"/>
          <p:cNvSpPr/>
          <p:nvPr/>
        </p:nvSpPr>
        <p:spPr>
          <a:xfrm>
            <a:off x="723900" y="1600200"/>
            <a:ext cx="476250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1" name="Cloud Definition"/>
          <p:cNvSpPr txBox="1"/>
          <p:nvPr/>
        </p:nvSpPr>
        <p:spPr>
          <a:xfrm>
            <a:off x="941069" y="1790700"/>
            <a:ext cx="43281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Cloud Definition</a:t>
            </a:r>
          </a:p>
        </p:txBody>
      </p:sp>
      <p:sp>
        <p:nvSpPr>
          <p:cNvPr id="82" name="Define cloud using your capstone context."/>
          <p:cNvSpPr txBox="1"/>
          <p:nvPr/>
        </p:nvSpPr>
        <p:spPr>
          <a:xfrm>
            <a:off x="884570" y="2096995"/>
            <a:ext cx="4441159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Cloud computing provides servers, storage, databases, and applications over the Internet.</a:t>
            </a:r>
            <a:br>
              <a:rPr lang="en-US" dirty="0"/>
            </a:br>
            <a:r>
              <a:rPr lang="en-US" dirty="0" err="1"/>
              <a:t>BloodBridge</a:t>
            </a:r>
            <a:r>
              <a:rPr lang="en-US" dirty="0"/>
              <a:t> uses cloud services for secure data storage and quick access to donor information.</a:t>
            </a:r>
          </a:p>
        </p:txBody>
      </p:sp>
      <p:sp>
        <p:nvSpPr>
          <p:cNvPr id="83" name="Cloud Characteristics-panel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84" name="Cloud Characteristics-bar"/>
          <p:cNvSpPr/>
          <p:nvPr/>
        </p:nvSpPr>
        <p:spPr>
          <a:xfrm>
            <a:off x="723900" y="3238500"/>
            <a:ext cx="476250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5" name="Cloud Characteristics"/>
          <p:cNvSpPr txBox="1"/>
          <p:nvPr/>
        </p:nvSpPr>
        <p:spPr>
          <a:xfrm>
            <a:off x="876300" y="3348587"/>
            <a:ext cx="43281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rPr dirty="0"/>
              <a:t>Cloud Characteristics</a:t>
            </a:r>
          </a:p>
        </p:txBody>
      </p:sp>
      <p:sp>
        <p:nvSpPr>
          <p:cNvPr id="86" name="Elasticity, scalability, measured service, resource pooling."/>
          <p:cNvSpPr txBox="1"/>
          <p:nvPr/>
        </p:nvSpPr>
        <p:spPr>
          <a:xfrm>
            <a:off x="876300" y="3629187"/>
            <a:ext cx="4762499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b="1" dirty="0"/>
              <a:t>Elasticity:</a:t>
            </a:r>
            <a:r>
              <a:rPr lang="en-US" dirty="0"/>
              <a:t> Handles sudden increases in blood requests. </a:t>
            </a:r>
          </a:p>
          <a:p>
            <a:r>
              <a:rPr lang="en-US" b="1" dirty="0"/>
              <a:t>Scalability:</a:t>
            </a:r>
            <a:r>
              <a:rPr lang="en-US" dirty="0"/>
              <a:t> Supports more users without affecting performance. </a:t>
            </a:r>
          </a:p>
          <a:p>
            <a:r>
              <a:rPr lang="en-US" b="1" dirty="0"/>
              <a:t>Measured Service:</a:t>
            </a:r>
            <a:r>
              <a:rPr lang="en-US" dirty="0"/>
              <a:t> Tracks storage and API usage. </a:t>
            </a:r>
          </a:p>
          <a:p>
            <a:r>
              <a:rPr lang="en-US" b="1" dirty="0"/>
              <a:t>Resource Pooling:</a:t>
            </a:r>
            <a:r>
              <a:rPr lang="en-US" dirty="0"/>
              <a:t> Shares cloud resources among all users. </a:t>
            </a:r>
          </a:p>
          <a:p>
            <a:r>
              <a:rPr dirty="0"/>
              <a:t>.</a:t>
            </a:r>
          </a:p>
        </p:txBody>
      </p:sp>
      <p:sp>
        <p:nvSpPr>
          <p:cNvPr id="87" name="Cloud Concept Map-placeholder"/>
          <p:cNvSpPr/>
          <p:nvPr/>
        </p:nvSpPr>
        <p:spPr>
          <a:xfrm>
            <a:off x="6134100" y="1600200"/>
            <a:ext cx="4762500" cy="2895600"/>
          </a:xfrm>
          <a:prstGeom prst="roundRect">
            <a:avLst>
              <a:gd name="adj" fmla="val 2632"/>
            </a:avLst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8" name="Cloud Concept Map"/>
          <p:cNvSpPr txBox="1"/>
          <p:nvPr/>
        </p:nvSpPr>
        <p:spPr>
          <a:xfrm>
            <a:off x="6290307" y="1694348"/>
            <a:ext cx="43281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rPr dirty="0"/>
              <a:t>Cloud Concept Map</a:t>
            </a:r>
          </a:p>
        </p:txBody>
      </p:sp>
      <p:sp>
        <p:nvSpPr>
          <p:cNvPr id="89" name="Place a clean concept map that links cloud ecosystem, API role, service models, elasticity, and your capstone modules."/>
          <p:cNvSpPr txBox="1"/>
          <p:nvPr/>
        </p:nvSpPr>
        <p:spPr>
          <a:xfrm>
            <a:off x="6351269" y="2190750"/>
            <a:ext cx="432816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90" name="delete-guidance-tab"/>
          <p:cNvSpPr/>
          <p:nvPr/>
        </p:nvSpPr>
        <p:spPr>
          <a:xfrm>
            <a:off x="876300" y="5829300"/>
            <a:ext cx="10439400" cy="361950"/>
          </a:xfrm>
          <a:prstGeom prst="roundRect">
            <a:avLst>
              <a:gd name="adj" fmla="val 26316"/>
            </a:avLst>
          </a:prstGeom>
          <a:solidFill>
            <a:srgbClr val="FFF7ED"/>
          </a:solidFill>
          <a:ln>
            <a:solidFill>
              <a:srgbClr val="E9A15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91" name="Guidance - delete before presentation: Use the concept map as a speaking aid. Do not overload it with tiny text."/>
          <p:cNvSpPr txBox="1"/>
          <p:nvPr/>
        </p:nvSpPr>
        <p:spPr>
          <a:xfrm>
            <a:off x="1150619" y="5934075"/>
            <a:ext cx="98907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r>
              <a:t>Guidance - delete before presentation: Use the concept map as a speaking aid. Do not overload it with tiny text.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7B61AE-55E8-926E-FB90-E0F13DCD7F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851" y="2049647"/>
            <a:ext cx="3042997" cy="232521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96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97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99" name="CO1 AT3 | 04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04</a:t>
            </a:r>
          </a:p>
        </p:txBody>
      </p:sp>
      <p:sp>
        <p:nvSpPr>
          <p:cNvPr id="100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Capstone Cloud Architecture</a:t>
            </a:r>
          </a:p>
        </p:txBody>
      </p:sp>
      <p:sp>
        <p:nvSpPr>
          <p:cNvPr id="101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cloud architecture connects the user action to services</a:t>
            </a:r>
          </a:p>
        </p:txBody>
      </p:sp>
      <p:sp>
        <p:nvSpPr>
          <p:cNvPr id="102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103" name="node-User App / Web App"/>
          <p:cNvSpPr/>
          <p:nvPr/>
        </p:nvSpPr>
        <p:spPr>
          <a:xfrm>
            <a:off x="1038225" y="211455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04" name="User App / Web App"/>
          <p:cNvSpPr txBox="1"/>
          <p:nvPr/>
        </p:nvSpPr>
        <p:spPr>
          <a:xfrm>
            <a:off x="1207769" y="2333625"/>
            <a:ext cx="148971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Mobile App</a:t>
            </a:r>
            <a:endParaRPr dirty="0"/>
          </a:p>
        </p:txBody>
      </p:sp>
      <p:sp>
        <p:nvSpPr>
          <p:cNvPr id="105" name="node-Auth + API Gateway"/>
          <p:cNvSpPr/>
          <p:nvPr/>
        </p:nvSpPr>
        <p:spPr>
          <a:xfrm>
            <a:off x="3476625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06" name="Auth + API Gateway"/>
          <p:cNvSpPr txBox="1"/>
          <p:nvPr/>
        </p:nvSpPr>
        <p:spPr>
          <a:xfrm>
            <a:off x="3636644" y="2333625"/>
            <a:ext cx="148971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User Authentication</a:t>
            </a:r>
            <a:endParaRPr dirty="0"/>
          </a:p>
        </p:txBody>
      </p:sp>
      <p:sp>
        <p:nvSpPr>
          <p:cNvPr id="107" name="node-Backend Services"/>
          <p:cNvSpPr/>
          <p:nvPr/>
        </p:nvSpPr>
        <p:spPr>
          <a:xfrm>
            <a:off x="5905500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08" name="Backend Services"/>
          <p:cNvSpPr txBox="1"/>
          <p:nvPr/>
        </p:nvSpPr>
        <p:spPr>
          <a:xfrm>
            <a:off x="6065519" y="2333625"/>
            <a:ext cx="148971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Business Logic</a:t>
            </a:r>
            <a:endParaRPr dirty="0"/>
          </a:p>
        </p:txBody>
      </p:sp>
      <p:sp>
        <p:nvSpPr>
          <p:cNvPr id="109" name="node-Database / Storage"/>
          <p:cNvSpPr/>
          <p:nvPr/>
        </p:nvSpPr>
        <p:spPr>
          <a:xfrm>
            <a:off x="8334375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10" name="Database / Storage"/>
          <p:cNvSpPr txBox="1"/>
          <p:nvPr/>
        </p:nvSpPr>
        <p:spPr>
          <a:xfrm>
            <a:off x="8494394" y="2333625"/>
            <a:ext cx="148971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Cloud Database</a:t>
            </a:r>
            <a:endParaRPr dirty="0"/>
          </a:p>
        </p:txBody>
      </p:sp>
      <p:sp>
        <p:nvSpPr>
          <p:cNvPr id="111" name="node-Analytics + Monitoring"/>
          <p:cNvSpPr/>
          <p:nvPr/>
        </p:nvSpPr>
        <p:spPr>
          <a:xfrm>
            <a:off x="5961697" y="379095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12" name="Analytics + Monitoring"/>
          <p:cNvSpPr txBox="1"/>
          <p:nvPr/>
        </p:nvSpPr>
        <p:spPr>
          <a:xfrm>
            <a:off x="6065519" y="3952875"/>
            <a:ext cx="148971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System Monitoring</a:t>
            </a:r>
            <a:endParaRPr dirty="0"/>
          </a:p>
        </p:txBody>
      </p:sp>
      <p:sp>
        <p:nvSpPr>
          <p:cNvPr id="113" name="connector-0"/>
          <p:cNvSpPr/>
          <p:nvPr/>
        </p:nvSpPr>
        <p:spPr>
          <a:xfrm>
            <a:off x="2857500" y="2495550"/>
            <a:ext cx="619125" cy="1905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4" name="connector-1"/>
          <p:cNvSpPr/>
          <p:nvPr/>
        </p:nvSpPr>
        <p:spPr>
          <a:xfrm>
            <a:off x="5286375" y="2495550"/>
            <a:ext cx="619125" cy="1905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5" name="connector-2"/>
          <p:cNvSpPr/>
          <p:nvPr/>
        </p:nvSpPr>
        <p:spPr>
          <a:xfrm>
            <a:off x="7715250" y="2495550"/>
            <a:ext cx="619125" cy="1905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6" name="connector-3"/>
          <p:cNvSpPr/>
          <p:nvPr/>
        </p:nvSpPr>
        <p:spPr>
          <a:xfrm>
            <a:off x="6781800" y="2895600"/>
            <a:ext cx="19050" cy="81915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7" name="Scaling point"/>
          <p:cNvSpPr txBox="1"/>
          <p:nvPr/>
        </p:nvSpPr>
        <p:spPr>
          <a:xfrm>
            <a:off x="5951219" y="1733550"/>
            <a:ext cx="171831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 b="1">
                <a:solidFill>
                  <a:srgbClr val="334155"/>
                </a:solidFill>
              </a:defRPr>
            </a:lvl1pPr>
          </a:lstStyle>
          <a:p>
            <a:r>
              <a:t>Scaling point</a:t>
            </a:r>
          </a:p>
        </p:txBody>
      </p:sp>
      <p:sp>
        <p:nvSpPr>
          <p:cNvPr id="118" name="Security boundary"/>
          <p:cNvSpPr txBox="1"/>
          <p:nvPr/>
        </p:nvSpPr>
        <p:spPr>
          <a:xfrm>
            <a:off x="3522344" y="3067050"/>
            <a:ext cx="65760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64748B"/>
                </a:solidFill>
              </a:defRPr>
            </a:lvl1pPr>
          </a:lstStyle>
          <a:p>
            <a:r>
              <a:t>Security boundary</a:t>
            </a:r>
          </a:p>
        </p:txBody>
      </p:sp>
      <p:sp>
        <p:nvSpPr>
          <p:cNvPr id="119" name="security-line"/>
          <p:cNvSpPr/>
          <p:nvPr/>
        </p:nvSpPr>
        <p:spPr>
          <a:xfrm>
            <a:off x="3286125" y="3333750"/>
            <a:ext cx="7048500" cy="19050"/>
          </a:xfrm>
          <a:prstGeom prst="rect">
            <a:avLst/>
          </a:prstGeom>
          <a:solidFill>
            <a:srgbClr val="B7C9D9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20" name="Presentation Points-panel"/>
          <p:cNvSpPr/>
          <p:nvPr/>
        </p:nvSpPr>
        <p:spPr>
          <a:xfrm>
            <a:off x="8854441" y="1672764"/>
            <a:ext cx="2381250" cy="3200400"/>
          </a:xfrm>
          <a:prstGeom prst="roundRect">
            <a:avLst>
              <a:gd name="adj" fmla="val 3200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121" name="Presentation Points-bar"/>
          <p:cNvSpPr/>
          <p:nvPr/>
        </p:nvSpPr>
        <p:spPr>
          <a:xfrm>
            <a:off x="8858250" y="1581150"/>
            <a:ext cx="2381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22" name="Presentation Points"/>
          <p:cNvSpPr txBox="1"/>
          <p:nvPr/>
        </p:nvSpPr>
        <p:spPr>
          <a:xfrm>
            <a:off x="9075419" y="1771650"/>
            <a:ext cx="1946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Presentation Points</a:t>
            </a:r>
          </a:p>
        </p:txBody>
      </p:sp>
      <p:sp>
        <p:nvSpPr>
          <p:cNvPr id="123" name="Request path…"/>
          <p:cNvSpPr txBox="1"/>
          <p:nvPr/>
        </p:nvSpPr>
        <p:spPr>
          <a:xfrm>
            <a:off x="9075419" y="2171700"/>
            <a:ext cx="1946912" cy="1274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Request path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API role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Compute choice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Database and storage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Monitoring and security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Scaling point</a:t>
            </a:r>
          </a:p>
        </p:txBody>
      </p:sp>
      <p:sp>
        <p:nvSpPr>
          <p:cNvPr id="124" name="delete-guidance-tab"/>
          <p:cNvSpPr/>
          <p:nvPr/>
        </p:nvSpPr>
        <p:spPr>
          <a:xfrm>
            <a:off x="876300" y="5829300"/>
            <a:ext cx="10439400" cy="361950"/>
          </a:xfrm>
          <a:prstGeom prst="roundRect">
            <a:avLst>
              <a:gd name="adj" fmla="val 26316"/>
            </a:avLst>
          </a:prstGeom>
          <a:solidFill>
            <a:srgbClr val="FFF7ED"/>
          </a:solidFill>
          <a:ln>
            <a:solidFill>
              <a:srgbClr val="E9A15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25" name="Guidance - delete before presentation: Explain the request path from user to cloud services. Replace sample labels with your actual architecture."/>
          <p:cNvSpPr txBox="1"/>
          <p:nvPr/>
        </p:nvSpPr>
        <p:spPr>
          <a:xfrm>
            <a:off x="1150619" y="5934075"/>
            <a:ext cx="98907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r>
              <a:t>Guidance - delete before presentation: Explain the request path from user to cloud services. Replace sample labels with your actual architecture.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0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131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133" name="CO1 AT3 | 05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05</a:t>
            </a:r>
          </a:p>
        </p:txBody>
      </p:sp>
      <p:sp>
        <p:nvSpPr>
          <p:cNvPr id="134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Cloud Service Model Responsibility Matrix</a:t>
            </a:r>
          </a:p>
        </p:txBody>
      </p:sp>
      <p:sp>
        <p:nvSpPr>
          <p:cNvPr id="135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Each service model defines what we control and what cloud manages</a:t>
            </a:r>
          </a:p>
        </p:txBody>
      </p:sp>
      <p:sp>
        <p:nvSpPr>
          <p:cNvPr id="136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137" name="matrix-h-0"/>
          <p:cNvSpPr/>
          <p:nvPr/>
        </p:nvSpPr>
        <p:spPr>
          <a:xfrm>
            <a:off x="723900" y="1809750"/>
            <a:ext cx="17145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8" name="Service area"/>
          <p:cNvSpPr txBox="1"/>
          <p:nvPr/>
        </p:nvSpPr>
        <p:spPr>
          <a:xfrm>
            <a:off x="845819" y="1971675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Service area</a:t>
            </a:r>
          </a:p>
        </p:txBody>
      </p:sp>
      <p:sp>
        <p:nvSpPr>
          <p:cNvPr id="139" name="matrix-h-1"/>
          <p:cNvSpPr/>
          <p:nvPr/>
        </p:nvSpPr>
        <p:spPr>
          <a:xfrm>
            <a:off x="2438400" y="1809750"/>
            <a:ext cx="11430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0" name="Model"/>
          <p:cNvSpPr txBox="1"/>
          <p:nvPr/>
        </p:nvSpPr>
        <p:spPr>
          <a:xfrm>
            <a:off x="2560319" y="1971675"/>
            <a:ext cx="8991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Model</a:t>
            </a:r>
          </a:p>
        </p:txBody>
      </p:sp>
      <p:sp>
        <p:nvSpPr>
          <p:cNvPr id="141" name="matrix-h-2"/>
          <p:cNvSpPr/>
          <p:nvPr/>
        </p:nvSpPr>
        <p:spPr>
          <a:xfrm>
            <a:off x="3581400" y="1809750"/>
            <a:ext cx="22860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2" name="Provider manages"/>
          <p:cNvSpPr txBox="1"/>
          <p:nvPr/>
        </p:nvSpPr>
        <p:spPr>
          <a:xfrm>
            <a:off x="3703319" y="1971675"/>
            <a:ext cx="20421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Provider manages</a:t>
            </a:r>
          </a:p>
        </p:txBody>
      </p:sp>
      <p:sp>
        <p:nvSpPr>
          <p:cNvPr id="143" name="matrix-h-3"/>
          <p:cNvSpPr/>
          <p:nvPr/>
        </p:nvSpPr>
        <p:spPr>
          <a:xfrm>
            <a:off x="5867400" y="1809750"/>
            <a:ext cx="238125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4" name="Student team manages"/>
          <p:cNvSpPr txBox="1"/>
          <p:nvPr/>
        </p:nvSpPr>
        <p:spPr>
          <a:xfrm>
            <a:off x="5989319" y="1971675"/>
            <a:ext cx="213741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Student team manages</a:t>
            </a:r>
          </a:p>
        </p:txBody>
      </p:sp>
      <p:sp>
        <p:nvSpPr>
          <p:cNvPr id="145" name="matrix-h-4"/>
          <p:cNvSpPr/>
          <p:nvPr/>
        </p:nvSpPr>
        <p:spPr>
          <a:xfrm>
            <a:off x="8248650" y="1809750"/>
            <a:ext cx="24765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6" name="Why this fits"/>
          <p:cNvSpPr txBox="1"/>
          <p:nvPr/>
        </p:nvSpPr>
        <p:spPr>
          <a:xfrm>
            <a:off x="8370569" y="1971675"/>
            <a:ext cx="2232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rPr lang="en-IN" dirty="0"/>
              <a:t>Why this fits</a:t>
            </a:r>
            <a:endParaRPr dirty="0"/>
          </a:p>
        </p:txBody>
      </p:sp>
      <p:sp>
        <p:nvSpPr>
          <p:cNvPr id="147" name="matrix-0-0"/>
          <p:cNvSpPr/>
          <p:nvPr/>
        </p:nvSpPr>
        <p:spPr>
          <a:xfrm>
            <a:off x="723900" y="2305049"/>
            <a:ext cx="10001250" cy="2875121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8" name="Frontend hosting"/>
          <p:cNvSpPr txBox="1"/>
          <p:nvPr/>
        </p:nvSpPr>
        <p:spPr>
          <a:xfrm>
            <a:off x="845819" y="2457450"/>
            <a:ext cx="147066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endParaRPr dirty="0"/>
          </a:p>
        </p:txBody>
      </p:sp>
      <p:sp>
        <p:nvSpPr>
          <p:cNvPr id="149" name="matrix-0-1"/>
          <p:cNvSpPr/>
          <p:nvPr/>
        </p:nvSpPr>
        <p:spPr>
          <a:xfrm>
            <a:off x="2438400" y="2314575"/>
            <a:ext cx="1143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0" name="matrix-0-2"/>
          <p:cNvSpPr/>
          <p:nvPr/>
        </p:nvSpPr>
        <p:spPr>
          <a:xfrm>
            <a:off x="3581400" y="2305050"/>
            <a:ext cx="2286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1" name="matrix-0-3"/>
          <p:cNvSpPr/>
          <p:nvPr/>
        </p:nvSpPr>
        <p:spPr>
          <a:xfrm>
            <a:off x="5867400" y="2305050"/>
            <a:ext cx="238125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2" name="matrix-0-4"/>
          <p:cNvSpPr/>
          <p:nvPr/>
        </p:nvSpPr>
        <p:spPr>
          <a:xfrm>
            <a:off x="8248650" y="2305050"/>
            <a:ext cx="2476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3" name="matrix-1-0"/>
          <p:cNvSpPr/>
          <p:nvPr/>
        </p:nvSpPr>
        <p:spPr>
          <a:xfrm>
            <a:off x="723900" y="2800350"/>
            <a:ext cx="1714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4" name="Backend/API"/>
          <p:cNvSpPr txBox="1"/>
          <p:nvPr/>
        </p:nvSpPr>
        <p:spPr>
          <a:xfrm>
            <a:off x="845819" y="2952750"/>
            <a:ext cx="147066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endParaRPr dirty="0"/>
          </a:p>
        </p:txBody>
      </p:sp>
      <p:sp>
        <p:nvSpPr>
          <p:cNvPr id="155" name="matrix-1-1"/>
          <p:cNvSpPr/>
          <p:nvPr/>
        </p:nvSpPr>
        <p:spPr>
          <a:xfrm>
            <a:off x="2438400" y="2800350"/>
            <a:ext cx="1143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6" name="matrix-1-2"/>
          <p:cNvSpPr/>
          <p:nvPr/>
        </p:nvSpPr>
        <p:spPr>
          <a:xfrm>
            <a:off x="3581400" y="2800350"/>
            <a:ext cx="2286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7" name="matrix-1-3"/>
          <p:cNvSpPr/>
          <p:nvPr/>
        </p:nvSpPr>
        <p:spPr>
          <a:xfrm>
            <a:off x="5867400" y="2800350"/>
            <a:ext cx="23812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8" name="matrix-1-4"/>
          <p:cNvSpPr/>
          <p:nvPr/>
        </p:nvSpPr>
        <p:spPr>
          <a:xfrm>
            <a:off x="8248650" y="2800350"/>
            <a:ext cx="2476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9" name="matrix-2-0"/>
          <p:cNvSpPr/>
          <p:nvPr/>
        </p:nvSpPr>
        <p:spPr>
          <a:xfrm>
            <a:off x="723900" y="3295650"/>
            <a:ext cx="1714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0" name="Database"/>
          <p:cNvSpPr txBox="1"/>
          <p:nvPr/>
        </p:nvSpPr>
        <p:spPr>
          <a:xfrm>
            <a:off x="845819" y="3448050"/>
            <a:ext cx="147066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endParaRPr dirty="0"/>
          </a:p>
        </p:txBody>
      </p:sp>
      <p:sp>
        <p:nvSpPr>
          <p:cNvPr id="161" name="matrix-2-1"/>
          <p:cNvSpPr/>
          <p:nvPr/>
        </p:nvSpPr>
        <p:spPr>
          <a:xfrm>
            <a:off x="2438400" y="3295650"/>
            <a:ext cx="1143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2" name="matrix-2-2"/>
          <p:cNvSpPr/>
          <p:nvPr/>
        </p:nvSpPr>
        <p:spPr>
          <a:xfrm>
            <a:off x="3581400" y="3295650"/>
            <a:ext cx="2286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3" name="matrix-2-3"/>
          <p:cNvSpPr/>
          <p:nvPr/>
        </p:nvSpPr>
        <p:spPr>
          <a:xfrm>
            <a:off x="5867400" y="3295650"/>
            <a:ext cx="238125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4" name="matrix-2-4"/>
          <p:cNvSpPr/>
          <p:nvPr/>
        </p:nvSpPr>
        <p:spPr>
          <a:xfrm>
            <a:off x="8248650" y="3295650"/>
            <a:ext cx="2476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5" name="matrix-3-0"/>
          <p:cNvSpPr/>
          <p:nvPr/>
        </p:nvSpPr>
        <p:spPr>
          <a:xfrm>
            <a:off x="723900" y="3790950"/>
            <a:ext cx="1714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6" name="Storage"/>
          <p:cNvSpPr txBox="1"/>
          <p:nvPr/>
        </p:nvSpPr>
        <p:spPr>
          <a:xfrm>
            <a:off x="845819" y="3943350"/>
            <a:ext cx="147066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endParaRPr dirty="0"/>
          </a:p>
        </p:txBody>
      </p:sp>
      <p:sp>
        <p:nvSpPr>
          <p:cNvPr id="167" name="matrix-3-1"/>
          <p:cNvSpPr/>
          <p:nvPr/>
        </p:nvSpPr>
        <p:spPr>
          <a:xfrm>
            <a:off x="2438400" y="3790950"/>
            <a:ext cx="1143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8" name="matrix-3-2"/>
          <p:cNvSpPr/>
          <p:nvPr/>
        </p:nvSpPr>
        <p:spPr>
          <a:xfrm>
            <a:off x="3581400" y="3790950"/>
            <a:ext cx="2286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9" name="matrix-3-3"/>
          <p:cNvSpPr/>
          <p:nvPr/>
        </p:nvSpPr>
        <p:spPr>
          <a:xfrm>
            <a:off x="5867400" y="3790950"/>
            <a:ext cx="23812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0" name="matrix-3-4"/>
          <p:cNvSpPr/>
          <p:nvPr/>
        </p:nvSpPr>
        <p:spPr>
          <a:xfrm>
            <a:off x="8248650" y="3790950"/>
            <a:ext cx="2476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1" name="matrix-4-0"/>
          <p:cNvSpPr/>
          <p:nvPr/>
        </p:nvSpPr>
        <p:spPr>
          <a:xfrm>
            <a:off x="723900" y="4286250"/>
            <a:ext cx="1714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2" name="Monitoring / logs"/>
          <p:cNvSpPr txBox="1"/>
          <p:nvPr/>
        </p:nvSpPr>
        <p:spPr>
          <a:xfrm>
            <a:off x="845819" y="4438650"/>
            <a:ext cx="147066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endParaRPr dirty="0"/>
          </a:p>
        </p:txBody>
      </p:sp>
      <p:sp>
        <p:nvSpPr>
          <p:cNvPr id="173" name="matrix-4-1"/>
          <p:cNvSpPr/>
          <p:nvPr/>
        </p:nvSpPr>
        <p:spPr>
          <a:xfrm>
            <a:off x="2438400" y="4286250"/>
            <a:ext cx="1143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4" name="matrix-4-2"/>
          <p:cNvSpPr/>
          <p:nvPr/>
        </p:nvSpPr>
        <p:spPr>
          <a:xfrm>
            <a:off x="3581400" y="4286250"/>
            <a:ext cx="2286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5" name="matrix-4-3"/>
          <p:cNvSpPr/>
          <p:nvPr/>
        </p:nvSpPr>
        <p:spPr>
          <a:xfrm>
            <a:off x="5867400" y="4286250"/>
            <a:ext cx="238125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6" name="matrix-4-4"/>
          <p:cNvSpPr/>
          <p:nvPr/>
        </p:nvSpPr>
        <p:spPr>
          <a:xfrm>
            <a:off x="8248650" y="4286250"/>
            <a:ext cx="2476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7" name="matrix-5-0"/>
          <p:cNvSpPr/>
          <p:nvPr/>
        </p:nvSpPr>
        <p:spPr>
          <a:xfrm>
            <a:off x="723900" y="4781550"/>
            <a:ext cx="1714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8" name="Security / IAM"/>
          <p:cNvSpPr txBox="1"/>
          <p:nvPr/>
        </p:nvSpPr>
        <p:spPr>
          <a:xfrm>
            <a:off x="845819" y="4933950"/>
            <a:ext cx="147066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endParaRPr dirty="0"/>
          </a:p>
        </p:txBody>
      </p:sp>
      <p:sp>
        <p:nvSpPr>
          <p:cNvPr id="179" name="matrix-5-1"/>
          <p:cNvSpPr/>
          <p:nvPr/>
        </p:nvSpPr>
        <p:spPr>
          <a:xfrm>
            <a:off x="2438400" y="4781550"/>
            <a:ext cx="1143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0" name="matrix-5-2"/>
          <p:cNvSpPr/>
          <p:nvPr/>
        </p:nvSpPr>
        <p:spPr>
          <a:xfrm>
            <a:off x="3581400" y="4781550"/>
            <a:ext cx="2286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1" name="matrix-5-3"/>
          <p:cNvSpPr/>
          <p:nvPr/>
        </p:nvSpPr>
        <p:spPr>
          <a:xfrm>
            <a:off x="5867400" y="4781550"/>
            <a:ext cx="23812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2" name="matrix-5-4"/>
          <p:cNvSpPr/>
          <p:nvPr/>
        </p:nvSpPr>
        <p:spPr>
          <a:xfrm>
            <a:off x="8248650" y="4781550"/>
            <a:ext cx="2476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3" name="delete-guidance-tab"/>
          <p:cNvSpPr/>
          <p:nvPr/>
        </p:nvSpPr>
        <p:spPr>
          <a:xfrm>
            <a:off x="876300" y="5829300"/>
            <a:ext cx="10439400" cy="361950"/>
          </a:xfrm>
          <a:prstGeom prst="roundRect">
            <a:avLst>
              <a:gd name="adj" fmla="val 26316"/>
            </a:avLst>
          </a:prstGeom>
          <a:solidFill>
            <a:srgbClr val="FFF7ED"/>
          </a:solidFill>
          <a:ln>
            <a:solidFill>
              <a:srgbClr val="E9A15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4" name="Guidance - delete before presentation: Mention only services that fit your capstone. Defend responsibility split orally."/>
          <p:cNvSpPr txBox="1"/>
          <p:nvPr/>
        </p:nvSpPr>
        <p:spPr>
          <a:xfrm>
            <a:off x="1150619" y="5934075"/>
            <a:ext cx="98907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r>
              <a:t>Guidance - delete before presentation: Mention only services that fit your capstone. Defend responsibility split orally.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46BFA7-88E8-9161-4490-46390C08A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568419"/>
              </p:ext>
            </p:extLst>
          </p:nvPr>
        </p:nvGraphicFramePr>
        <p:xfrm>
          <a:off x="723900" y="1763003"/>
          <a:ext cx="9716465" cy="3599864"/>
        </p:xfrm>
        <a:graphic>
          <a:graphicData uri="http://schemas.openxmlformats.org/drawingml/2006/table">
            <a:tbl>
              <a:tblPr/>
              <a:tblGrid>
                <a:gridCol w="1695209">
                  <a:extLst>
                    <a:ext uri="{9D8B030D-6E8A-4147-A177-3AD203B41FA5}">
                      <a16:colId xmlns:a16="http://schemas.microsoft.com/office/drawing/2014/main" val="1873437156"/>
                    </a:ext>
                  </a:extLst>
                </a:gridCol>
                <a:gridCol w="1192192">
                  <a:extLst>
                    <a:ext uri="{9D8B030D-6E8A-4147-A177-3AD203B41FA5}">
                      <a16:colId xmlns:a16="http://schemas.microsoft.com/office/drawing/2014/main" val="1417437573"/>
                    </a:ext>
                  </a:extLst>
                </a:gridCol>
                <a:gridCol w="2291788">
                  <a:extLst>
                    <a:ext uri="{9D8B030D-6E8A-4147-A177-3AD203B41FA5}">
                      <a16:colId xmlns:a16="http://schemas.microsoft.com/office/drawing/2014/main" val="501436402"/>
                    </a:ext>
                  </a:extLst>
                </a:gridCol>
                <a:gridCol w="2395959">
                  <a:extLst>
                    <a:ext uri="{9D8B030D-6E8A-4147-A177-3AD203B41FA5}">
                      <a16:colId xmlns:a16="http://schemas.microsoft.com/office/drawing/2014/main" val="2621908547"/>
                    </a:ext>
                  </a:extLst>
                </a:gridCol>
                <a:gridCol w="2141317">
                  <a:extLst>
                    <a:ext uri="{9D8B030D-6E8A-4147-A177-3AD203B41FA5}">
                      <a16:colId xmlns:a16="http://schemas.microsoft.com/office/drawing/2014/main" val="509774149"/>
                    </a:ext>
                  </a:extLst>
                </a:gridCol>
              </a:tblGrid>
              <a:tr h="72017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848290"/>
                  </a:ext>
                </a:extLst>
              </a:tr>
              <a:tr h="432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Frontend Hosting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UI 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Easy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390847"/>
                  </a:ext>
                </a:extLst>
              </a:tr>
              <a:tr h="719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Backend/API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API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Fast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738908"/>
                  </a:ext>
                </a:extLst>
              </a:tr>
              <a:tr h="432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Database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DBaaS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Secure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932361"/>
                  </a:ext>
                </a:extLst>
              </a:tr>
              <a:tr h="432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Storage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IaaS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Reliable Backup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99077"/>
                  </a:ext>
                </a:extLst>
              </a:tr>
              <a:tr h="432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Monitoring / Logs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 Logs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Error Tracking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4787"/>
                  </a:ext>
                </a:extLst>
              </a:tr>
              <a:tr h="432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Security / IAM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Authentication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User Roles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Secure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10372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9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190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192" name="CO1 AT3 | 06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06</a:t>
            </a:r>
          </a:p>
        </p:txBody>
      </p:sp>
      <p:sp>
        <p:nvSpPr>
          <p:cNvPr id="193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Data Flow and Analytics Pipeline</a:t>
            </a:r>
          </a:p>
        </p:txBody>
      </p:sp>
      <p:sp>
        <p:nvSpPr>
          <p:cNvPr id="194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The product data moves from user activity to useful insight</a:t>
            </a:r>
          </a:p>
        </p:txBody>
      </p:sp>
      <p:sp>
        <p:nvSpPr>
          <p:cNvPr id="195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196" name="flow-0"/>
          <p:cNvSpPr/>
          <p:nvPr/>
        </p:nvSpPr>
        <p:spPr>
          <a:xfrm>
            <a:off x="981075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97" name="Collect"/>
          <p:cNvSpPr txBox="1"/>
          <p:nvPr/>
        </p:nvSpPr>
        <p:spPr>
          <a:xfrm>
            <a:off x="1245869" y="1905000"/>
            <a:ext cx="99441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User Details</a:t>
            </a:r>
            <a:endParaRPr dirty="0"/>
          </a:p>
        </p:txBody>
      </p:sp>
      <p:sp>
        <p:nvSpPr>
          <p:cNvPr id="198" name="flow-line-0"/>
          <p:cNvSpPr/>
          <p:nvPr/>
        </p:nvSpPr>
        <p:spPr>
          <a:xfrm>
            <a:off x="24955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99" name="flow-1"/>
          <p:cNvSpPr/>
          <p:nvPr/>
        </p:nvSpPr>
        <p:spPr>
          <a:xfrm>
            <a:off x="30480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0" name="Ingest"/>
          <p:cNvSpPr txBox="1"/>
          <p:nvPr/>
        </p:nvSpPr>
        <p:spPr>
          <a:xfrm>
            <a:off x="3227069" y="1905000"/>
            <a:ext cx="99441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REST API</a:t>
            </a:r>
            <a:endParaRPr dirty="0"/>
          </a:p>
        </p:txBody>
      </p:sp>
      <p:sp>
        <p:nvSpPr>
          <p:cNvPr id="201" name="flow-line-1"/>
          <p:cNvSpPr/>
          <p:nvPr/>
        </p:nvSpPr>
        <p:spPr>
          <a:xfrm>
            <a:off x="44767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2" name="flow-2"/>
          <p:cNvSpPr/>
          <p:nvPr/>
        </p:nvSpPr>
        <p:spPr>
          <a:xfrm>
            <a:off x="50292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3" name="Store"/>
          <p:cNvSpPr txBox="1"/>
          <p:nvPr/>
        </p:nvSpPr>
        <p:spPr>
          <a:xfrm>
            <a:off x="5204457" y="1811178"/>
            <a:ext cx="994412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Cloud Database</a:t>
            </a:r>
            <a:endParaRPr dirty="0"/>
          </a:p>
        </p:txBody>
      </p:sp>
      <p:sp>
        <p:nvSpPr>
          <p:cNvPr id="204" name="flow-line-2"/>
          <p:cNvSpPr/>
          <p:nvPr/>
        </p:nvSpPr>
        <p:spPr>
          <a:xfrm>
            <a:off x="64579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5" name="flow-3"/>
          <p:cNvSpPr/>
          <p:nvPr/>
        </p:nvSpPr>
        <p:spPr>
          <a:xfrm>
            <a:off x="70104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6" name="Process"/>
          <p:cNvSpPr txBox="1"/>
          <p:nvPr/>
        </p:nvSpPr>
        <p:spPr>
          <a:xfrm>
            <a:off x="7223757" y="1787879"/>
            <a:ext cx="994412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Donor Matching</a:t>
            </a:r>
            <a:endParaRPr dirty="0"/>
          </a:p>
        </p:txBody>
      </p:sp>
      <p:sp>
        <p:nvSpPr>
          <p:cNvPr id="207" name="flow-line-3"/>
          <p:cNvSpPr/>
          <p:nvPr/>
        </p:nvSpPr>
        <p:spPr>
          <a:xfrm>
            <a:off x="84391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8" name="flow-4"/>
          <p:cNvSpPr/>
          <p:nvPr/>
        </p:nvSpPr>
        <p:spPr>
          <a:xfrm>
            <a:off x="89916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9" name="Visualize"/>
          <p:cNvSpPr txBox="1"/>
          <p:nvPr/>
        </p:nvSpPr>
        <p:spPr>
          <a:xfrm>
            <a:off x="9199244" y="1787879"/>
            <a:ext cx="994412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admin Dashboard</a:t>
            </a:r>
            <a:endParaRPr dirty="0"/>
          </a:p>
        </p:txBody>
      </p:sp>
      <p:sp>
        <p:nvSpPr>
          <p:cNvPr id="210" name="Data Requirements-panel"/>
          <p:cNvSpPr/>
          <p:nvPr/>
        </p:nvSpPr>
        <p:spPr>
          <a:xfrm>
            <a:off x="72390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11" name="Data Requirements-bar"/>
          <p:cNvSpPr/>
          <p:nvPr/>
        </p:nvSpPr>
        <p:spPr>
          <a:xfrm>
            <a:off x="723900" y="3238500"/>
            <a:ext cx="3143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2" name="Data Requirements"/>
          <p:cNvSpPr txBox="1"/>
          <p:nvPr/>
        </p:nvSpPr>
        <p:spPr>
          <a:xfrm>
            <a:off x="941069" y="3429000"/>
            <a:ext cx="2708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Data Requirements</a:t>
            </a:r>
          </a:p>
        </p:txBody>
      </p:sp>
      <p:sp>
        <p:nvSpPr>
          <p:cNvPr id="213" name="User data, events, logs, files, sensor data, or transactions."/>
          <p:cNvSpPr txBox="1"/>
          <p:nvPr/>
        </p:nvSpPr>
        <p:spPr>
          <a:xfrm>
            <a:off x="941069" y="3829050"/>
            <a:ext cx="270891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Donor details, patient requests, hospital records.</a:t>
            </a:r>
            <a:r>
              <a:rPr dirty="0"/>
              <a:t>.</a:t>
            </a:r>
          </a:p>
        </p:txBody>
      </p:sp>
      <p:sp>
        <p:nvSpPr>
          <p:cNvPr id="214" name="Analytics Requirement-panel"/>
          <p:cNvSpPr/>
          <p:nvPr/>
        </p:nvSpPr>
        <p:spPr>
          <a:xfrm>
            <a:off x="436245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15" name="Analytics Requirement-bar"/>
          <p:cNvSpPr/>
          <p:nvPr/>
        </p:nvSpPr>
        <p:spPr>
          <a:xfrm>
            <a:off x="4362450" y="3238500"/>
            <a:ext cx="3143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6" name="Analytics Requirement"/>
          <p:cNvSpPr txBox="1"/>
          <p:nvPr/>
        </p:nvSpPr>
        <p:spPr>
          <a:xfrm>
            <a:off x="4579619" y="3429000"/>
            <a:ext cx="2708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Analytics Requirement</a:t>
            </a:r>
          </a:p>
        </p:txBody>
      </p:sp>
      <p:sp>
        <p:nvSpPr>
          <p:cNvPr id="217" name="Dashboard, alert, prediction, report, trend, or decision support."/>
          <p:cNvSpPr txBox="1"/>
          <p:nvPr/>
        </p:nvSpPr>
        <p:spPr>
          <a:xfrm>
            <a:off x="4579619" y="3829050"/>
            <a:ext cx="270891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Blood request reports and donor statistics.</a:t>
            </a:r>
            <a:endParaRPr dirty="0"/>
          </a:p>
        </p:txBody>
      </p:sp>
      <p:sp>
        <p:nvSpPr>
          <p:cNvPr id="218" name="Proof Required-panel"/>
          <p:cNvSpPr/>
          <p:nvPr/>
        </p:nvSpPr>
        <p:spPr>
          <a:xfrm>
            <a:off x="800100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19" name="Proof Required-bar"/>
          <p:cNvSpPr/>
          <p:nvPr/>
        </p:nvSpPr>
        <p:spPr>
          <a:xfrm>
            <a:off x="8001000" y="3238500"/>
            <a:ext cx="3143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0" name="Proof Required"/>
          <p:cNvSpPr txBox="1"/>
          <p:nvPr/>
        </p:nvSpPr>
        <p:spPr>
          <a:xfrm>
            <a:off x="8218169" y="3429000"/>
            <a:ext cx="2708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Proof Required</a:t>
            </a:r>
          </a:p>
        </p:txBody>
      </p:sp>
      <p:sp>
        <p:nvSpPr>
          <p:cNvPr id="221" name="Sample input, sample output, and one insight generated."/>
          <p:cNvSpPr txBox="1"/>
          <p:nvPr/>
        </p:nvSpPr>
        <p:spPr>
          <a:xfrm>
            <a:off x="8170544" y="3686859"/>
            <a:ext cx="2708912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Blood Group: O+</a:t>
            </a:r>
          </a:p>
          <a:p>
            <a:r>
              <a:rPr lang="en-IN" dirty="0"/>
              <a:t>5 Nearby Donors Found</a:t>
            </a:r>
          </a:p>
          <a:p>
            <a:r>
              <a:rPr lang="en-IN" dirty="0"/>
              <a:t>Faster emergency donor matching.</a:t>
            </a:r>
            <a:endParaRPr dirty="0"/>
          </a:p>
        </p:txBody>
      </p:sp>
      <p:sp>
        <p:nvSpPr>
          <p:cNvPr id="222" name="delete-guidance-tab"/>
          <p:cNvSpPr/>
          <p:nvPr/>
        </p:nvSpPr>
        <p:spPr>
          <a:xfrm>
            <a:off x="876300" y="5829300"/>
            <a:ext cx="10439400" cy="361950"/>
          </a:xfrm>
          <a:prstGeom prst="roundRect">
            <a:avLst>
              <a:gd name="adj" fmla="val 26316"/>
            </a:avLst>
          </a:prstGeom>
          <a:solidFill>
            <a:srgbClr val="FFF7ED"/>
          </a:solidFill>
          <a:ln>
            <a:solidFill>
              <a:srgbClr val="E9A15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3" name="Guidance - delete before presentation: Show the data story. Big data analytics is optional, but the data path must be logical."/>
          <p:cNvSpPr txBox="1"/>
          <p:nvPr/>
        </p:nvSpPr>
        <p:spPr>
          <a:xfrm>
            <a:off x="1150619" y="5934075"/>
            <a:ext cx="98907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r>
              <a:t>Guidance - delete before presentation: Show the data story. Big data analytics is optional, but the data path must be logical.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8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29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31" name="CO1 AT3 | 07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07</a:t>
            </a:r>
          </a:p>
        </p:txBody>
      </p:sp>
      <p:sp>
        <p:nvSpPr>
          <p:cNvPr id="232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Python / AI Module Integration</a:t>
            </a:r>
          </a:p>
        </p:txBody>
      </p:sp>
      <p:sp>
        <p:nvSpPr>
          <p:cNvPr id="233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Python or AI adds intelligence where the product needs it</a:t>
            </a:r>
          </a:p>
        </p:txBody>
      </p:sp>
      <p:sp>
        <p:nvSpPr>
          <p:cNvPr id="234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35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36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37" name="Python Role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Python Role</a:t>
            </a:r>
          </a:p>
        </p:txBody>
      </p:sp>
      <p:sp>
        <p:nvSpPr>
          <p:cNvPr id="238" name="Prediction, automation, analytics, OCR, NLP, or reporting."/>
          <p:cNvSpPr txBox="1"/>
          <p:nvPr/>
        </p:nvSpPr>
        <p:spPr>
          <a:xfrm>
            <a:off x="998219" y="21907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Donor Analytics</a:t>
            </a:r>
            <a:r>
              <a:rPr dirty="0"/>
              <a:t>.</a:t>
            </a:r>
          </a:p>
        </p:txBody>
      </p:sp>
      <p:sp>
        <p:nvSpPr>
          <p:cNvPr id="239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40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1" name="Input and Output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Input and Output</a:t>
            </a:r>
          </a:p>
        </p:txBody>
      </p:sp>
      <p:sp>
        <p:nvSpPr>
          <p:cNvPr id="242" name="What data enters the module and what result comes out?"/>
          <p:cNvSpPr txBox="1"/>
          <p:nvPr/>
        </p:nvSpPr>
        <p:spPr>
          <a:xfrm>
            <a:off x="6408419" y="21907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b="1" dirty="0"/>
              <a:t>Input:</a:t>
            </a:r>
            <a:r>
              <a:rPr lang="en-US" dirty="0"/>
              <a:t> Blood Requests</a:t>
            </a:r>
            <a:br>
              <a:rPr lang="en-US" dirty="0"/>
            </a:br>
            <a:r>
              <a:rPr lang="en-US" b="1" dirty="0"/>
              <a:t>Output:</a:t>
            </a:r>
            <a:r>
              <a:rPr lang="en-US" dirty="0"/>
              <a:t> Matching Donors</a:t>
            </a:r>
            <a:endParaRPr dirty="0"/>
          </a:p>
        </p:txBody>
      </p:sp>
      <p:sp>
        <p:nvSpPr>
          <p:cNvPr id="243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44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5" name="Execution Point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Execution Point</a:t>
            </a:r>
          </a:p>
        </p:txBody>
      </p:sp>
      <p:sp>
        <p:nvSpPr>
          <p:cNvPr id="246" name="API endpoint, serverless function, container, notebook, or scheduled job."/>
          <p:cNvSpPr txBox="1"/>
          <p:nvPr/>
        </p:nvSpPr>
        <p:spPr>
          <a:xfrm>
            <a:off x="998219" y="38290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Cloud Backend</a:t>
            </a:r>
            <a:endParaRPr dirty="0"/>
          </a:p>
        </p:txBody>
      </p:sp>
      <p:sp>
        <p:nvSpPr>
          <p:cNvPr id="247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48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9" name="Product Value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Product Value</a:t>
            </a:r>
          </a:p>
        </p:txBody>
      </p:sp>
      <p:sp>
        <p:nvSpPr>
          <p:cNvPr id="250" name="How does this module improve user experience or decision-making?"/>
          <p:cNvSpPr txBox="1"/>
          <p:nvPr/>
        </p:nvSpPr>
        <p:spPr>
          <a:xfrm>
            <a:off x="6408419" y="38290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Faster Donor Search</a:t>
            </a:r>
            <a:br>
              <a:rPr lang="en-IN" dirty="0"/>
            </a:br>
            <a:r>
              <a:rPr lang="en-IN" dirty="0"/>
              <a:t>Better User Experience</a:t>
            </a:r>
            <a:endParaRPr dirty="0"/>
          </a:p>
        </p:txBody>
      </p:sp>
      <p:sp>
        <p:nvSpPr>
          <p:cNvPr id="251" name="delete-guidance-tab"/>
          <p:cNvSpPr/>
          <p:nvPr/>
        </p:nvSpPr>
        <p:spPr>
          <a:xfrm>
            <a:off x="876300" y="5829300"/>
            <a:ext cx="10439400" cy="361950"/>
          </a:xfrm>
          <a:prstGeom prst="roundRect">
            <a:avLst>
              <a:gd name="adj" fmla="val 26316"/>
            </a:avLst>
          </a:prstGeom>
          <a:solidFill>
            <a:srgbClr val="FFF7ED"/>
          </a:solidFill>
          <a:ln>
            <a:solidFill>
              <a:srgbClr val="E9A15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2" name="Guidance - delete before presentation: If AI is not needed, present a Python automation or analytics component."/>
          <p:cNvSpPr txBox="1"/>
          <p:nvPr/>
        </p:nvSpPr>
        <p:spPr>
          <a:xfrm>
            <a:off x="1150619" y="5934075"/>
            <a:ext cx="98907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r>
              <a:t>Guidance - delete before presentation: If AI is not needed, present a Python automation or analytics component.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7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58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60" name="CO1 AT3 | 08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08</a:t>
            </a:r>
          </a:p>
        </p:txBody>
      </p:sp>
      <p:sp>
        <p:nvSpPr>
          <p:cNvPr id="261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Security, Scalability, Privacy and Cost Design</a:t>
            </a:r>
          </a:p>
        </p:txBody>
      </p:sp>
      <p:sp>
        <p:nvSpPr>
          <p:cNvPr id="262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Security, scale, privacy and cost shape the final design</a:t>
            </a:r>
          </a:p>
        </p:txBody>
      </p:sp>
      <p:sp>
        <p:nvSpPr>
          <p:cNvPr id="263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64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65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6" name="Security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Security</a:t>
            </a:r>
          </a:p>
        </p:txBody>
      </p:sp>
      <p:sp>
        <p:nvSpPr>
          <p:cNvPr id="267" name="Authentication, roles, validation, audit trail."/>
          <p:cNvSpPr txBox="1"/>
          <p:nvPr/>
        </p:nvSpPr>
        <p:spPr>
          <a:xfrm>
            <a:off x="998219" y="21907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User Authentication</a:t>
            </a:r>
            <a:br>
              <a:rPr lang="en-IN" dirty="0"/>
            </a:br>
            <a:r>
              <a:rPr lang="en-IN" dirty="0"/>
              <a:t>Role-Based Access</a:t>
            </a:r>
            <a:r>
              <a:rPr dirty="0"/>
              <a:t>.</a:t>
            </a:r>
          </a:p>
        </p:txBody>
      </p:sp>
      <p:sp>
        <p:nvSpPr>
          <p:cNvPr id="268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69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0" name="Privacy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Privacy</a:t>
            </a:r>
          </a:p>
        </p:txBody>
      </p:sp>
      <p:sp>
        <p:nvSpPr>
          <p:cNvPr id="271" name="Sensitive data, consent, anonymization, access limits."/>
          <p:cNvSpPr txBox="1"/>
          <p:nvPr/>
        </p:nvSpPr>
        <p:spPr>
          <a:xfrm>
            <a:off x="6408419" y="21907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Encrypted Data</a:t>
            </a:r>
            <a:br>
              <a:rPr lang="en-IN" dirty="0"/>
            </a:br>
            <a:r>
              <a:rPr lang="en-IN" dirty="0"/>
              <a:t>User Consent</a:t>
            </a:r>
            <a:r>
              <a:rPr dirty="0"/>
              <a:t>.</a:t>
            </a:r>
          </a:p>
        </p:txBody>
      </p:sp>
      <p:sp>
        <p:nvSpPr>
          <p:cNvPr id="272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73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4" name="Scalability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Scalability</a:t>
            </a:r>
          </a:p>
        </p:txBody>
      </p:sp>
      <p:sp>
        <p:nvSpPr>
          <p:cNvPr id="275" name="How will users grow without redesign?"/>
          <p:cNvSpPr txBox="1"/>
          <p:nvPr/>
        </p:nvSpPr>
        <p:spPr>
          <a:xfrm>
            <a:off x="998219" y="38290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Auto Scaling</a:t>
            </a:r>
            <a:br>
              <a:rPr lang="en-IN" dirty="0"/>
            </a:br>
            <a:r>
              <a:rPr lang="en-IN" dirty="0"/>
              <a:t>Load Balancing</a:t>
            </a:r>
            <a:endParaRPr dirty="0"/>
          </a:p>
        </p:txBody>
      </p:sp>
      <p:sp>
        <p:nvSpPr>
          <p:cNvPr id="276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77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8" name="Cost Awareness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Cost Awareness</a:t>
            </a:r>
          </a:p>
        </p:txBody>
      </p:sp>
      <p:sp>
        <p:nvSpPr>
          <p:cNvPr id="279" name="Free tier, managed services, storage/API usage limits."/>
          <p:cNvSpPr txBox="1"/>
          <p:nvPr/>
        </p:nvSpPr>
        <p:spPr>
          <a:xfrm>
            <a:off x="6408419" y="38290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Free Tier Services</a:t>
            </a:r>
            <a:br>
              <a:rPr lang="en-IN" dirty="0"/>
            </a:br>
            <a:r>
              <a:rPr lang="en-IN" dirty="0"/>
              <a:t>Pay-as-You-Go</a:t>
            </a:r>
            <a:r>
              <a:rPr dirty="0"/>
              <a:t>.</a:t>
            </a:r>
          </a:p>
        </p:txBody>
      </p:sp>
      <p:sp>
        <p:nvSpPr>
          <p:cNvPr id="280" name="delete-guidance-tab"/>
          <p:cNvSpPr/>
          <p:nvPr/>
        </p:nvSpPr>
        <p:spPr>
          <a:xfrm>
            <a:off x="876300" y="5829300"/>
            <a:ext cx="10439400" cy="361950"/>
          </a:xfrm>
          <a:prstGeom prst="roundRect">
            <a:avLst>
              <a:gd name="adj" fmla="val 26316"/>
            </a:avLst>
          </a:prstGeom>
          <a:solidFill>
            <a:srgbClr val="FFF7ED"/>
          </a:solidFill>
          <a:ln>
            <a:solidFill>
              <a:srgbClr val="E9A15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1" name="Guidance - delete before presentation: Present decisions, not generic definitions. Tie every point to the capstone."/>
          <p:cNvSpPr txBox="1"/>
          <p:nvPr/>
        </p:nvSpPr>
        <p:spPr>
          <a:xfrm>
            <a:off x="1150619" y="5934075"/>
            <a:ext cx="98907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r>
              <a:t>Guidance - delete before presentation: Present decisions, not generic definitions. Tie every point to the capstone.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6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87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89" name="CO1 AT3 | 09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09</a:t>
            </a:r>
          </a:p>
        </p:txBody>
      </p:sp>
      <p:sp>
        <p:nvSpPr>
          <p:cNvPr id="290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Implementation Stack and Deployment Evidence</a:t>
            </a:r>
          </a:p>
        </p:txBody>
      </p:sp>
      <p:sp>
        <p:nvSpPr>
          <p:cNvPr id="291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implementation stack shows how the design will be built</a:t>
            </a:r>
          </a:p>
        </p:txBody>
      </p:sp>
      <p:sp>
        <p:nvSpPr>
          <p:cNvPr id="292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93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94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5" name="Mobile / Web Layer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Mobile / Web Layer</a:t>
            </a:r>
          </a:p>
        </p:txBody>
      </p:sp>
      <p:sp>
        <p:nvSpPr>
          <p:cNvPr id="296" name="Android, iOS, Flutter, React, or web frontend."/>
          <p:cNvSpPr txBox="1"/>
          <p:nvPr/>
        </p:nvSpPr>
        <p:spPr>
          <a:xfrm>
            <a:off x="998219" y="21907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Android Application</a:t>
            </a:r>
            <a:r>
              <a:rPr dirty="0"/>
              <a:t>.</a:t>
            </a:r>
          </a:p>
        </p:txBody>
      </p:sp>
      <p:sp>
        <p:nvSpPr>
          <p:cNvPr id="297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98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9" name="Cloud Services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Cloud Services</a:t>
            </a:r>
          </a:p>
        </p:txBody>
      </p:sp>
      <p:sp>
        <p:nvSpPr>
          <p:cNvPr id="300" name="Compute, database, storage, authentication, analytics, API tools."/>
          <p:cNvSpPr txBox="1"/>
          <p:nvPr/>
        </p:nvSpPr>
        <p:spPr>
          <a:xfrm>
            <a:off x="6408419" y="21907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Firebase, </a:t>
            </a:r>
            <a:r>
              <a:rPr lang="en-IN" dirty="0" err="1"/>
              <a:t>Firestore</a:t>
            </a:r>
            <a:r>
              <a:rPr lang="en-IN" dirty="0"/>
              <a:t>, Cloud Storage, REST API</a:t>
            </a:r>
            <a:r>
              <a:rPr dirty="0"/>
              <a:t>.</a:t>
            </a:r>
          </a:p>
        </p:txBody>
      </p:sp>
      <p:sp>
        <p:nvSpPr>
          <p:cNvPr id="301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2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3" name="Evidence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Evidence</a:t>
            </a:r>
          </a:p>
        </p:txBody>
      </p:sp>
      <p:sp>
        <p:nvSpPr>
          <p:cNvPr id="304" name="GitHub, API test, cloud dashboard, endpoint, logs, or deployment URL."/>
          <p:cNvSpPr txBox="1"/>
          <p:nvPr/>
        </p:nvSpPr>
        <p:spPr>
          <a:xfrm>
            <a:off x="998219" y="38290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GitHub Repository, Firebase Console</a:t>
            </a:r>
            <a:endParaRPr dirty="0"/>
          </a:p>
        </p:txBody>
      </p:sp>
      <p:sp>
        <p:nvSpPr>
          <p:cNvPr id="305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6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7" name="Version Control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Version Control</a:t>
            </a:r>
          </a:p>
        </p:txBody>
      </p:sp>
      <p:sp>
        <p:nvSpPr>
          <p:cNvPr id="308" name="Repository structure, commits, branches, and README clarity."/>
          <p:cNvSpPr txBox="1"/>
          <p:nvPr/>
        </p:nvSpPr>
        <p:spPr>
          <a:xfrm>
            <a:off x="6408419" y="38290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GitHub Repository, Firebase Console</a:t>
            </a:r>
            <a:endParaRPr dirty="0"/>
          </a:p>
        </p:txBody>
      </p:sp>
      <p:sp>
        <p:nvSpPr>
          <p:cNvPr id="309" name="delete-guidance-tab"/>
          <p:cNvSpPr/>
          <p:nvPr/>
        </p:nvSpPr>
        <p:spPr>
          <a:xfrm>
            <a:off x="876300" y="5829300"/>
            <a:ext cx="10439400" cy="361950"/>
          </a:xfrm>
          <a:prstGeom prst="roundRect">
            <a:avLst>
              <a:gd name="adj" fmla="val 26316"/>
            </a:avLst>
          </a:prstGeom>
          <a:solidFill>
            <a:srgbClr val="FFF7ED"/>
          </a:solidFill>
          <a:ln>
            <a:solidFill>
              <a:srgbClr val="E9A15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0" name="Guidance - delete before presentation: Show real evidence. One clear screenshot is better than many unreadable screenshots."/>
          <p:cNvSpPr txBox="1"/>
          <p:nvPr/>
        </p:nvSpPr>
        <p:spPr>
          <a:xfrm>
            <a:off x="1150619" y="5934075"/>
            <a:ext cx="98907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r>
              <a:t>Guidance - delete before presentation: Show real evidence. One clear screenshot is better than many unreadable screenshots.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5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316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318" name="CO1 AT3 | 10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10</a:t>
            </a:r>
          </a:p>
        </p:txBody>
      </p:sp>
      <p:sp>
        <p:nvSpPr>
          <p:cNvPr id="319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Demo Storyboard and User Journey</a:t>
            </a:r>
          </a:p>
        </p:txBody>
      </p:sp>
      <p:sp>
        <p:nvSpPr>
          <p:cNvPr id="320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A complete user journey proves the product flow</a:t>
            </a:r>
          </a:p>
        </p:txBody>
      </p:sp>
      <p:sp>
        <p:nvSpPr>
          <p:cNvPr id="321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322" name="scene-0"/>
          <p:cNvSpPr/>
          <p:nvPr/>
        </p:nvSpPr>
        <p:spPr>
          <a:xfrm>
            <a:off x="72390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23" name="Scene 1"/>
          <p:cNvSpPr txBox="1"/>
          <p:nvPr/>
        </p:nvSpPr>
        <p:spPr>
          <a:xfrm>
            <a:off x="941069" y="173355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1</a:t>
            </a:r>
          </a:p>
        </p:txBody>
      </p:sp>
      <p:sp>
        <p:nvSpPr>
          <p:cNvPr id="324" name="User action -&gt; system response -&gt; cloud component touched"/>
          <p:cNvSpPr txBox="1"/>
          <p:nvPr/>
        </p:nvSpPr>
        <p:spPr>
          <a:xfrm>
            <a:off x="941069" y="2095500"/>
            <a:ext cx="2613662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IN" dirty="0"/>
              <a:t>User Login → Authentication</a:t>
            </a:r>
            <a:endParaRPr dirty="0"/>
          </a:p>
        </p:txBody>
      </p:sp>
      <p:sp>
        <p:nvSpPr>
          <p:cNvPr id="325" name="scene-1"/>
          <p:cNvSpPr/>
          <p:nvPr/>
        </p:nvSpPr>
        <p:spPr>
          <a:xfrm>
            <a:off x="436245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26" name="Scene 2"/>
          <p:cNvSpPr txBox="1"/>
          <p:nvPr/>
        </p:nvSpPr>
        <p:spPr>
          <a:xfrm>
            <a:off x="4579619" y="173355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2</a:t>
            </a:r>
          </a:p>
        </p:txBody>
      </p:sp>
      <p:sp>
        <p:nvSpPr>
          <p:cNvPr id="327" name="User action -&gt; system response -&gt; cloud component touched"/>
          <p:cNvSpPr txBox="1"/>
          <p:nvPr/>
        </p:nvSpPr>
        <p:spPr>
          <a:xfrm>
            <a:off x="4579619" y="2095500"/>
            <a:ext cx="2613662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IN" dirty="0"/>
              <a:t>Search Blood → API Request</a:t>
            </a:r>
            <a:endParaRPr dirty="0"/>
          </a:p>
        </p:txBody>
      </p:sp>
      <p:sp>
        <p:nvSpPr>
          <p:cNvPr id="328" name="scene-2"/>
          <p:cNvSpPr/>
          <p:nvPr/>
        </p:nvSpPr>
        <p:spPr>
          <a:xfrm>
            <a:off x="800100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29" name="Scene 3"/>
          <p:cNvSpPr txBox="1"/>
          <p:nvPr/>
        </p:nvSpPr>
        <p:spPr>
          <a:xfrm>
            <a:off x="8218169" y="173355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3</a:t>
            </a:r>
          </a:p>
        </p:txBody>
      </p:sp>
      <p:sp>
        <p:nvSpPr>
          <p:cNvPr id="330" name="User action -&gt; system response -&gt; cloud component touched"/>
          <p:cNvSpPr txBox="1"/>
          <p:nvPr/>
        </p:nvSpPr>
        <p:spPr>
          <a:xfrm>
            <a:off x="8218169" y="2095500"/>
            <a:ext cx="2613662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IN" dirty="0"/>
              <a:t>Match Donor → Database Search</a:t>
            </a:r>
            <a:endParaRPr dirty="0"/>
          </a:p>
        </p:txBody>
      </p:sp>
      <p:sp>
        <p:nvSpPr>
          <p:cNvPr id="331" name="scene-3"/>
          <p:cNvSpPr/>
          <p:nvPr/>
        </p:nvSpPr>
        <p:spPr>
          <a:xfrm>
            <a:off x="72390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32" name="Scene 4"/>
          <p:cNvSpPr txBox="1"/>
          <p:nvPr/>
        </p:nvSpPr>
        <p:spPr>
          <a:xfrm>
            <a:off x="941069" y="346710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4</a:t>
            </a:r>
          </a:p>
        </p:txBody>
      </p:sp>
      <p:sp>
        <p:nvSpPr>
          <p:cNvPr id="333" name="User action -&gt; system response -&gt; cloud component touched"/>
          <p:cNvSpPr txBox="1"/>
          <p:nvPr/>
        </p:nvSpPr>
        <p:spPr>
          <a:xfrm>
            <a:off x="941069" y="3829050"/>
            <a:ext cx="2613662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IN" dirty="0"/>
              <a:t>Send Request → Notification</a:t>
            </a:r>
            <a:endParaRPr dirty="0"/>
          </a:p>
        </p:txBody>
      </p:sp>
      <p:sp>
        <p:nvSpPr>
          <p:cNvPr id="334" name="scene-4"/>
          <p:cNvSpPr/>
          <p:nvPr/>
        </p:nvSpPr>
        <p:spPr>
          <a:xfrm>
            <a:off x="436245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35" name="Scene 5"/>
          <p:cNvSpPr txBox="1"/>
          <p:nvPr/>
        </p:nvSpPr>
        <p:spPr>
          <a:xfrm>
            <a:off x="4579619" y="346710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5</a:t>
            </a:r>
          </a:p>
        </p:txBody>
      </p:sp>
      <p:sp>
        <p:nvSpPr>
          <p:cNvPr id="336" name="User action -&gt; system response -&gt; cloud component touched"/>
          <p:cNvSpPr txBox="1"/>
          <p:nvPr/>
        </p:nvSpPr>
        <p:spPr>
          <a:xfrm>
            <a:off x="4579619" y="3829050"/>
            <a:ext cx="2613662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IN" dirty="0"/>
              <a:t>Donor Accepts → Status Update</a:t>
            </a:r>
            <a:endParaRPr dirty="0"/>
          </a:p>
        </p:txBody>
      </p:sp>
      <p:sp>
        <p:nvSpPr>
          <p:cNvPr id="337" name="scene-5"/>
          <p:cNvSpPr/>
          <p:nvPr/>
        </p:nvSpPr>
        <p:spPr>
          <a:xfrm>
            <a:off x="800100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38" name="Scene 6"/>
          <p:cNvSpPr txBox="1"/>
          <p:nvPr/>
        </p:nvSpPr>
        <p:spPr>
          <a:xfrm>
            <a:off x="8218169" y="346710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6</a:t>
            </a:r>
          </a:p>
        </p:txBody>
      </p:sp>
      <p:sp>
        <p:nvSpPr>
          <p:cNvPr id="339" name="User action -&gt; system response -&gt; cloud component touched"/>
          <p:cNvSpPr txBox="1"/>
          <p:nvPr/>
        </p:nvSpPr>
        <p:spPr>
          <a:xfrm>
            <a:off x="8218169" y="3829050"/>
            <a:ext cx="2613662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IN" dirty="0"/>
              <a:t>Blood Donated → Success Message</a:t>
            </a:r>
            <a:endParaRPr dirty="0"/>
          </a:p>
        </p:txBody>
      </p:sp>
      <p:sp>
        <p:nvSpPr>
          <p:cNvPr id="340" name="delete-guidance-tab"/>
          <p:cNvSpPr/>
          <p:nvPr/>
        </p:nvSpPr>
        <p:spPr>
          <a:xfrm>
            <a:off x="876300" y="5829300"/>
            <a:ext cx="10439400" cy="361950"/>
          </a:xfrm>
          <a:prstGeom prst="roundRect">
            <a:avLst>
              <a:gd name="adj" fmla="val 26316"/>
            </a:avLst>
          </a:prstGeom>
          <a:solidFill>
            <a:srgbClr val="FFF7ED"/>
          </a:solidFill>
          <a:ln>
            <a:solidFill>
              <a:srgbClr val="E9A15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41" name="Guidance - delete before presentation: Show the product journey. Each scene should connect user action, system response, and cloud component."/>
          <p:cNvSpPr txBox="1"/>
          <p:nvPr/>
        </p:nvSpPr>
        <p:spPr>
          <a:xfrm>
            <a:off x="1150619" y="5934075"/>
            <a:ext cx="98907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r>
              <a:t>Guidance - delete before presentation: Show the product journey. Each scene should connect user action, system response, and cloud component.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46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347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349" name="CO1 AT3 | 11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11</a:t>
            </a:r>
          </a:p>
        </p:txBody>
      </p:sp>
      <p:sp>
        <p:nvSpPr>
          <p:cNvPr id="350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Evaluation Readiness Checklist</a:t>
            </a:r>
          </a:p>
        </p:txBody>
      </p:sp>
      <p:sp>
        <p:nvSpPr>
          <p:cNvPr id="351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evidence confirms that the presentation is ready</a:t>
            </a:r>
          </a:p>
        </p:txBody>
      </p:sp>
      <p:sp>
        <p:nvSpPr>
          <p:cNvPr id="352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353" name="check-0"/>
          <p:cNvSpPr/>
          <p:nvPr/>
        </p:nvSpPr>
        <p:spPr>
          <a:xfrm>
            <a:off x="952500" y="16192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4" name="box-0"/>
          <p:cNvSpPr/>
          <p:nvPr/>
        </p:nvSpPr>
        <p:spPr>
          <a:xfrm>
            <a:off x="1143000" y="18478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5" name="Cloud ecosystem and service model explained"/>
          <p:cNvSpPr txBox="1"/>
          <p:nvPr/>
        </p:nvSpPr>
        <p:spPr>
          <a:xfrm>
            <a:off x="1626869" y="1790700"/>
            <a:ext cx="371856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Cloud ecosystem explained</a:t>
            </a:r>
            <a:endParaRPr dirty="0"/>
          </a:p>
        </p:txBody>
      </p:sp>
      <p:sp>
        <p:nvSpPr>
          <p:cNvPr id="356" name="check-1"/>
          <p:cNvSpPr/>
          <p:nvPr/>
        </p:nvSpPr>
        <p:spPr>
          <a:xfrm>
            <a:off x="952500" y="2686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7" name="box-1"/>
          <p:cNvSpPr/>
          <p:nvPr/>
        </p:nvSpPr>
        <p:spPr>
          <a:xfrm>
            <a:off x="1143000" y="29146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8" name="REST/SOAP/API role connected to capstone"/>
          <p:cNvSpPr txBox="1"/>
          <p:nvPr/>
        </p:nvSpPr>
        <p:spPr>
          <a:xfrm>
            <a:off x="1626869" y="2857500"/>
            <a:ext cx="371856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Secure cloud architecture</a:t>
            </a:r>
            <a:endParaRPr dirty="0"/>
          </a:p>
        </p:txBody>
      </p:sp>
      <p:sp>
        <p:nvSpPr>
          <p:cNvPr id="359" name="check-2"/>
          <p:cNvSpPr/>
          <p:nvPr/>
        </p:nvSpPr>
        <p:spPr>
          <a:xfrm>
            <a:off x="952500" y="37528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0" name="box-2"/>
          <p:cNvSpPr/>
          <p:nvPr/>
        </p:nvSpPr>
        <p:spPr>
          <a:xfrm>
            <a:off x="1143000" y="39814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1" name="Architecture has compute, data, storage, security, monitoring"/>
          <p:cNvSpPr txBox="1"/>
          <p:nvPr/>
        </p:nvSpPr>
        <p:spPr>
          <a:xfrm>
            <a:off x="1626869" y="3924300"/>
            <a:ext cx="371856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GitHub evidence attached</a:t>
            </a:r>
            <a:endParaRPr dirty="0"/>
          </a:p>
        </p:txBody>
      </p:sp>
      <p:sp>
        <p:nvSpPr>
          <p:cNvPr id="362" name="check-3"/>
          <p:cNvSpPr/>
          <p:nvPr/>
        </p:nvSpPr>
        <p:spPr>
          <a:xfrm>
            <a:off x="6572250" y="16192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3" name="box-3"/>
          <p:cNvSpPr/>
          <p:nvPr/>
        </p:nvSpPr>
        <p:spPr>
          <a:xfrm>
            <a:off x="6762750" y="18478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4" name="Elasticity and scalability decisions are visible"/>
          <p:cNvSpPr txBox="1"/>
          <p:nvPr/>
        </p:nvSpPr>
        <p:spPr>
          <a:xfrm>
            <a:off x="7246619" y="1790700"/>
            <a:ext cx="371856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REST API integrated</a:t>
            </a:r>
            <a:endParaRPr dirty="0"/>
          </a:p>
        </p:txBody>
      </p:sp>
      <p:sp>
        <p:nvSpPr>
          <p:cNvPr id="365" name="check-4"/>
          <p:cNvSpPr/>
          <p:nvPr/>
        </p:nvSpPr>
        <p:spPr>
          <a:xfrm>
            <a:off x="6572250" y="2686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6" name="box-4"/>
          <p:cNvSpPr/>
          <p:nvPr/>
        </p:nvSpPr>
        <p:spPr>
          <a:xfrm>
            <a:off x="6762750" y="29146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7" name="GitHub and cloud evidence are inspectable"/>
          <p:cNvSpPr txBox="1"/>
          <p:nvPr/>
        </p:nvSpPr>
        <p:spPr>
          <a:xfrm>
            <a:off x="7246619" y="2857500"/>
            <a:ext cx="371856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Scalable design</a:t>
            </a:r>
            <a:endParaRPr dirty="0"/>
          </a:p>
        </p:txBody>
      </p:sp>
      <p:sp>
        <p:nvSpPr>
          <p:cNvPr id="368" name="check-5"/>
          <p:cNvSpPr/>
          <p:nvPr/>
        </p:nvSpPr>
        <p:spPr>
          <a:xfrm>
            <a:off x="6572250" y="37528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9" name="box-5"/>
          <p:cNvSpPr/>
          <p:nvPr/>
        </p:nvSpPr>
        <p:spPr>
          <a:xfrm>
            <a:off x="6762750" y="39814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70" name="References and integrity statement are included"/>
          <p:cNvSpPr txBox="1"/>
          <p:nvPr/>
        </p:nvSpPr>
        <p:spPr>
          <a:xfrm>
            <a:off x="7246619" y="3924300"/>
            <a:ext cx="371856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References included</a:t>
            </a:r>
            <a:endParaRPr dirty="0"/>
          </a:p>
        </p:txBody>
      </p:sp>
      <p:sp>
        <p:nvSpPr>
          <p:cNvPr id="371" name="Evaluator Focus-panel"/>
          <p:cNvSpPr/>
          <p:nvPr/>
        </p:nvSpPr>
        <p:spPr>
          <a:xfrm>
            <a:off x="2095500" y="4953000"/>
            <a:ext cx="8001000" cy="704850"/>
          </a:xfrm>
          <a:prstGeom prst="roundRect">
            <a:avLst>
              <a:gd name="adj" fmla="val 1081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72" name="Evaluator Focus-bar"/>
          <p:cNvSpPr/>
          <p:nvPr/>
        </p:nvSpPr>
        <p:spPr>
          <a:xfrm>
            <a:off x="2095500" y="4953000"/>
            <a:ext cx="800100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73" name="Evaluator Focus"/>
          <p:cNvSpPr txBox="1"/>
          <p:nvPr/>
        </p:nvSpPr>
        <p:spPr>
          <a:xfrm>
            <a:off x="2312669" y="5143500"/>
            <a:ext cx="75666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Evaluator Focus</a:t>
            </a:r>
          </a:p>
        </p:txBody>
      </p:sp>
      <p:sp>
        <p:nvSpPr>
          <p:cNvPr id="374" name="CO1 is verified through cloud design reasoning, service choices, evidence, and individual explanation."/>
          <p:cNvSpPr txBox="1"/>
          <p:nvPr/>
        </p:nvSpPr>
        <p:spPr>
          <a:xfrm>
            <a:off x="2312669" y="5524500"/>
            <a:ext cx="75666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72033"/>
                </a:solidFill>
              </a:defRPr>
            </a:lvl1pPr>
          </a:lstStyle>
          <a:p>
            <a:r>
              <a:t>CO1 is verified through cloud design reasoning, service choices, evidence, and individual explanation.</a:t>
            </a:r>
          </a:p>
        </p:txBody>
      </p:sp>
      <p:sp>
        <p:nvSpPr>
          <p:cNvPr id="375" name="delete-guidance-tab"/>
          <p:cNvSpPr/>
          <p:nvPr/>
        </p:nvSpPr>
        <p:spPr>
          <a:xfrm>
            <a:off x="876300" y="5829300"/>
            <a:ext cx="10439400" cy="361950"/>
          </a:xfrm>
          <a:prstGeom prst="roundRect">
            <a:avLst>
              <a:gd name="adj" fmla="val 26316"/>
            </a:avLst>
          </a:prstGeom>
          <a:solidFill>
            <a:srgbClr val="FFF7ED"/>
          </a:solidFill>
          <a:ln>
            <a:solidFill>
              <a:srgbClr val="E9A15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76" name="Guidance - delete before presentation: Use this as a self-check slide while preparing. Delete the guidance tab before presentation."/>
          <p:cNvSpPr txBox="1"/>
          <p:nvPr/>
        </p:nvSpPr>
        <p:spPr>
          <a:xfrm>
            <a:off x="1150619" y="5934075"/>
            <a:ext cx="98907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r>
              <a:t>Guidance - delete before presentation: Use this as a self-check slide while preparing. Delete the guidance tab before presentation.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81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382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383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384" name="CO1 AT3 | 12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12</a:t>
            </a:r>
          </a:p>
        </p:txBody>
      </p:sp>
      <p:sp>
        <p:nvSpPr>
          <p:cNvPr id="385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Conclusion, Limitations and Future Scope</a:t>
            </a:r>
          </a:p>
        </p:txBody>
      </p:sp>
      <p:sp>
        <p:nvSpPr>
          <p:cNvPr id="386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We close with learning, limitations and next steps</a:t>
            </a:r>
          </a:p>
        </p:txBody>
      </p:sp>
      <p:sp>
        <p:nvSpPr>
          <p:cNvPr id="387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388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89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0" name="Learning Outcome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Learning Outcome</a:t>
            </a:r>
          </a:p>
        </p:txBody>
      </p:sp>
      <p:sp>
        <p:nvSpPr>
          <p:cNvPr id="391" name="What cloud concepts did the project make clear?"/>
          <p:cNvSpPr txBox="1"/>
          <p:nvPr/>
        </p:nvSpPr>
        <p:spPr>
          <a:xfrm>
            <a:off x="998219" y="21907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Learned cloud architecture and service models</a:t>
            </a:r>
            <a:endParaRPr dirty="0"/>
          </a:p>
        </p:txBody>
      </p:sp>
      <p:sp>
        <p:nvSpPr>
          <p:cNvPr id="392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93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4" name="Limitations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Limitations</a:t>
            </a:r>
          </a:p>
        </p:txBody>
      </p:sp>
      <p:sp>
        <p:nvSpPr>
          <p:cNvPr id="395" name="What remains incomplete or needs improvement?"/>
          <p:cNvSpPr txBox="1"/>
          <p:nvPr/>
        </p:nvSpPr>
        <p:spPr>
          <a:xfrm>
            <a:off x="6408419" y="21907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Prototype with limited features.</a:t>
            </a:r>
            <a:endParaRPr dirty="0"/>
          </a:p>
        </p:txBody>
      </p:sp>
      <p:sp>
        <p:nvSpPr>
          <p:cNvPr id="396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97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8" name="Future Improvement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Future Improvement</a:t>
            </a:r>
          </a:p>
        </p:txBody>
      </p:sp>
      <p:sp>
        <p:nvSpPr>
          <p:cNvPr id="399" name="What will be improved before final capstone review?"/>
          <p:cNvSpPr txBox="1"/>
          <p:nvPr/>
        </p:nvSpPr>
        <p:spPr>
          <a:xfrm>
            <a:off x="998219" y="38290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Add AI prediction and live GPS tracking.</a:t>
            </a:r>
            <a:endParaRPr dirty="0"/>
          </a:p>
        </p:txBody>
      </p:sp>
      <p:sp>
        <p:nvSpPr>
          <p:cNvPr id="400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Integrity Statement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Integrity Statement</a:t>
            </a:r>
          </a:p>
        </p:txBody>
      </p:sp>
      <p:sp>
        <p:nvSpPr>
          <p:cNvPr id="403" name="Mention sources, tools, datasets, and any AI assistance acknowledged."/>
          <p:cNvSpPr txBox="1"/>
          <p:nvPr/>
        </p:nvSpPr>
        <p:spPr>
          <a:xfrm>
            <a:off x="6408419" y="38290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Developed using Firebase, GitHub, Draw.io, and ChatGPT for learning assistance.</a:t>
            </a:r>
            <a:endParaRPr dirty="0"/>
          </a:p>
        </p:txBody>
      </p:sp>
      <p:sp>
        <p:nvSpPr>
          <p:cNvPr id="404" name="delete-guidance-tab"/>
          <p:cNvSpPr/>
          <p:nvPr/>
        </p:nvSpPr>
        <p:spPr>
          <a:xfrm>
            <a:off x="876300" y="5829300"/>
            <a:ext cx="10439400" cy="361950"/>
          </a:xfrm>
          <a:prstGeom prst="roundRect">
            <a:avLst>
              <a:gd name="adj" fmla="val 26316"/>
            </a:avLst>
          </a:prstGeom>
          <a:solidFill>
            <a:srgbClr val="FFF7ED"/>
          </a:solidFill>
          <a:ln>
            <a:solidFill>
              <a:srgbClr val="E9A15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5" name="Guidance - delete before presentation: End with technical learning, not only a thank-you slide."/>
          <p:cNvSpPr txBox="1"/>
          <p:nvPr/>
        </p:nvSpPr>
        <p:spPr>
          <a:xfrm>
            <a:off x="1150619" y="5934075"/>
            <a:ext cx="98907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r>
              <a:t>Guidance - delete before presentation: End with technical learning, not only a thank-you slide.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1539</Words>
  <Application>Microsoft Office PowerPoint</Application>
  <PresentationFormat>Widescreen</PresentationFormat>
  <Paragraphs>226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Calibri Light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Rahul Sai</dc:creator>
  <cp:lastModifiedBy>Rahul Sai</cp:lastModifiedBy>
  <cp:revision>2</cp:revision>
  <dcterms:modified xsi:type="dcterms:W3CDTF">2026-07-20T08:50:53Z</dcterms:modified>
</cp:coreProperties>
</file>